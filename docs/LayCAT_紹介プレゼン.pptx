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5A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91440" cy="6858000"/>
          </a:xfrm>
          <a:prstGeom prst="rect">
            <a:avLst/>
          </a:prstGeom>
          <a:solidFill>
            <a:srgbClr val="A5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>
                <a:solidFill>
                  <a:srgbClr val="F2F3F7"/>
                </a:solidFill>
                <a:latin typeface="Meiryo"/>
                <a:ea typeface="Meiryo"/>
              </a:rPr>
              <a:t>LayCAT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2461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A9AAA"/>
                </a:solidFill>
                <a:latin typeface="Meiryo"/>
                <a:ea typeface="Meiryo"/>
              </a:rPr>
              <a:t>映像制作のための </a:t>
            </a:r>
            <a:r>
              <a:rPr sz="2200" b="1">
                <a:solidFill>
                  <a:srgbClr val="5A9BFF"/>
                </a:solidFill>
                <a:latin typeface="Meiryo"/>
                <a:ea typeface="Meiryo"/>
              </a:rPr>
              <a:t>レビュー ＆ 進行管理ツール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114800"/>
            <a:ext cx="10241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A9AAA"/>
                </a:solidFill>
                <a:latin typeface="Meiryo"/>
                <a:ea typeface="Meiryo"/>
              </a:rPr>
              <a:t>動画への描き込み、進捗の見える化、チェックの割り振り、連続再生まで。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A9AAA"/>
                </a:solidFill>
                <a:latin typeface="Meiryo"/>
                <a:ea typeface="Meiryo"/>
              </a:rPr>
              <a:t>制作のやり取りを、これ1つで。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943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A"/>
                </a:solidFill>
                <a:latin typeface="Meiryo"/>
                <a:ea typeface="Meiryo"/>
              </a:rPr>
              <a:t>ブラウザだけで動作／インストール不要　—　単一HTML・チーム共有対応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F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8A7A"/>
                </a:solidFill>
                <a:latin typeface="Meiryo"/>
                <a:ea typeface="Meiryo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3F7"/>
                </a:solidFill>
                <a:latin typeface="Meiryo"/>
                <a:ea typeface="Meiryo"/>
              </a:rPr>
              <a:t>こんな悩み、ありませんか？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892040" cy="1600200"/>
          </a:xfrm>
          <a:prstGeom prst="roundRect">
            <a:avLst/>
          </a:prstGeom>
          <a:solidFill>
            <a:srgbClr val="16171C"/>
          </a:solidFill>
          <a:ln w="12700">
            <a:solidFill>
              <a:srgbClr val="2A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91440" cy="1600200"/>
          </a:xfrm>
          <a:prstGeom prst="rect">
            <a:avLst/>
          </a:prstGeom>
          <a:solidFill>
            <a:srgbClr val="F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066543"/>
            <a:ext cx="4251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8A7A"/>
                </a:solidFill>
                <a:latin typeface="Meiryo"/>
                <a:ea typeface="Meiryo"/>
              </a:rPr>
              <a:t>「 </a:t>
            </a:r>
            <a:r>
              <a:rPr sz="1600" b="1">
                <a:solidFill>
                  <a:srgbClr val="F2F3F7"/>
                </a:solidFill>
                <a:latin typeface="Meiryo"/>
                <a:ea typeface="Meiryo"/>
              </a:rPr>
              <a:t>「もう少し右」が伝わらない</a:t>
            </a:r>
            <a:r>
              <a:rPr sz="1600" b="1">
                <a:solidFill>
                  <a:srgbClr val="FF8A7A"/>
                </a:solidFill>
                <a:latin typeface="Meiryo"/>
                <a:ea typeface="Meiryo"/>
              </a:rPr>
              <a:t> 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587752"/>
            <a:ext cx="4251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A"/>
                </a:solidFill>
                <a:latin typeface="Meiryo"/>
                <a:ea typeface="Meiryo"/>
              </a:rPr>
              <a:t>口頭やメールの往復ばかりで、修正の意図がなかなか伝わらない。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4892040" cy="1600200"/>
          </a:xfrm>
          <a:prstGeom prst="roundRect">
            <a:avLst/>
          </a:prstGeom>
          <a:solidFill>
            <a:srgbClr val="16171C"/>
          </a:solidFill>
          <a:ln w="12700">
            <a:solidFill>
              <a:srgbClr val="2A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828800"/>
            <a:ext cx="91440" cy="1600200"/>
          </a:xfrm>
          <a:prstGeom prst="rect">
            <a:avLst/>
          </a:prstGeom>
          <a:solidFill>
            <a:srgbClr val="F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066543"/>
            <a:ext cx="4251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8A7A"/>
                </a:solidFill>
                <a:latin typeface="Meiryo"/>
                <a:ea typeface="Meiryo"/>
              </a:rPr>
              <a:t>「 </a:t>
            </a:r>
            <a:r>
              <a:rPr sz="1600" b="1">
                <a:solidFill>
                  <a:srgbClr val="F2F3F7"/>
                </a:solidFill>
                <a:latin typeface="Meiryo"/>
                <a:ea typeface="Meiryo"/>
              </a:rPr>
              <a:t>どのカットが、どこまで？</a:t>
            </a:r>
            <a:r>
              <a:rPr sz="1600" b="1">
                <a:solidFill>
                  <a:srgbClr val="FF8A7A"/>
                </a:solidFill>
                <a:latin typeface="Meiryo"/>
                <a:ea typeface="Meiryo"/>
              </a:rPr>
              <a:t> 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587752"/>
            <a:ext cx="4251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A"/>
                </a:solidFill>
                <a:latin typeface="Meiryo"/>
                <a:ea typeface="Meiryo"/>
              </a:rPr>
              <a:t>進捗が見えず、Excel 管理や状況確認に手間がかかる。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03320"/>
            <a:ext cx="4892040" cy="1600200"/>
          </a:xfrm>
          <a:prstGeom prst="roundRect">
            <a:avLst/>
          </a:prstGeom>
          <a:solidFill>
            <a:srgbClr val="16171C"/>
          </a:solidFill>
          <a:ln w="12700">
            <a:solidFill>
              <a:srgbClr val="2A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703320"/>
            <a:ext cx="91440" cy="1600200"/>
          </a:xfrm>
          <a:prstGeom prst="rect">
            <a:avLst/>
          </a:prstGeom>
          <a:solidFill>
            <a:srgbClr val="F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3941063"/>
            <a:ext cx="4251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8A7A"/>
                </a:solidFill>
                <a:latin typeface="Meiryo"/>
                <a:ea typeface="Meiryo"/>
              </a:rPr>
              <a:t>「 </a:t>
            </a:r>
            <a:r>
              <a:rPr sz="1600" b="1">
                <a:solidFill>
                  <a:srgbClr val="F2F3F7"/>
                </a:solidFill>
                <a:latin typeface="Meiryo"/>
                <a:ea typeface="Meiryo"/>
              </a:rPr>
              <a:t>誰が確認する番？</a:t>
            </a:r>
            <a:r>
              <a:rPr sz="1600" b="1">
                <a:solidFill>
                  <a:srgbClr val="FF8A7A"/>
                </a:solidFill>
                <a:latin typeface="Meiryo"/>
                <a:ea typeface="Meiryo"/>
              </a:rPr>
              <a:t> 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462272"/>
            <a:ext cx="4251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A"/>
                </a:solidFill>
                <a:latin typeface="Meiryo"/>
                <a:ea typeface="Meiryo"/>
              </a:rPr>
              <a:t>チェックの抜け漏れや、二度手間が起きやすい。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703320"/>
            <a:ext cx="4892040" cy="1600200"/>
          </a:xfrm>
          <a:prstGeom prst="roundRect">
            <a:avLst/>
          </a:prstGeom>
          <a:solidFill>
            <a:srgbClr val="16171C"/>
          </a:solidFill>
          <a:ln w="12700">
            <a:solidFill>
              <a:srgbClr val="2A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703320"/>
            <a:ext cx="91440" cy="1600200"/>
          </a:xfrm>
          <a:prstGeom prst="rect">
            <a:avLst/>
          </a:prstGeom>
          <a:solidFill>
            <a:srgbClr val="F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3941063"/>
            <a:ext cx="4251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8A7A"/>
                </a:solidFill>
                <a:latin typeface="Meiryo"/>
                <a:ea typeface="Meiryo"/>
              </a:rPr>
              <a:t>「 </a:t>
            </a:r>
            <a:r>
              <a:rPr sz="1600" b="1">
                <a:solidFill>
                  <a:srgbClr val="F2F3F7"/>
                </a:solidFill>
                <a:latin typeface="Meiryo"/>
                <a:ea typeface="Meiryo"/>
              </a:rPr>
              <a:t>最新版はどれ？</a:t>
            </a:r>
            <a:r>
              <a:rPr sz="1600" b="1">
                <a:solidFill>
                  <a:srgbClr val="FF8A7A"/>
                </a:solidFill>
                <a:latin typeface="Meiryo"/>
                <a:ea typeface="Meiryo"/>
              </a:rPr>
              <a:t> 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462272"/>
            <a:ext cx="4251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A"/>
                </a:solidFill>
                <a:latin typeface="Meiryo"/>
                <a:ea typeface="Meiryo"/>
              </a:rPr>
              <a:t>動画やコメントが散らばり、探すのに時間がかかる。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064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A9AAA"/>
                </a:solidFill>
                <a:latin typeface="Meiryo"/>
                <a:ea typeface="Meiryo"/>
              </a:rPr>
              <a:t>— その悩み、</a:t>
            </a:r>
            <a:r>
              <a:rPr sz="1500" b="1">
                <a:solidFill>
                  <a:srgbClr val="5A9BFF"/>
                </a:solidFill>
                <a:latin typeface="Meiryo"/>
                <a:ea typeface="Meiryo"/>
              </a:rPr>
              <a:t>LayCAT</a:t>
            </a:r>
            <a:r>
              <a:rPr sz="1500" b="0">
                <a:solidFill>
                  <a:srgbClr val="9A9AAA"/>
                </a:solidFill>
                <a:latin typeface="Meiryo"/>
                <a:ea typeface="Meiryo"/>
              </a:rPr>
              <a:t> がまとめて解決します。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9AAA"/>
                </a:solidFill>
                <a:latin typeface="Meiryo"/>
                <a:ea typeface="Meiryo"/>
              </a:rPr>
              <a:t>LayCAT  /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5A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A9BFF"/>
                </a:solidFill>
                <a:latin typeface="Meiryo"/>
                <a:ea typeface="Meiryo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3F7"/>
                </a:solidFill>
                <a:latin typeface="Meiryo"/>
                <a:ea typeface="Meiryo"/>
              </a:rPr>
              <a:t>LayCAT とは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429768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00" b="0">
                <a:solidFill>
                  <a:srgbClr val="F2F3F7"/>
                </a:solidFill>
                <a:latin typeface="Meiryo"/>
                <a:ea typeface="Meiryo"/>
              </a:rPr>
              <a:t>動画や画像を共有して、OK・リテイク・NG で判定できます。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00" b="0">
                <a:solidFill>
                  <a:srgbClr val="F2F3F7"/>
                </a:solidFill>
                <a:latin typeface="Meiryo"/>
                <a:ea typeface="Meiryo"/>
              </a:rPr>
              <a:t>動画のコマに直接描き込むアノテーションで、修正指示をそのまま伝えられます。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00" b="0">
                <a:solidFill>
                  <a:srgbClr val="F2F3F7"/>
                </a:solidFill>
                <a:latin typeface="Meiryo"/>
                <a:ea typeface="Meiryo"/>
              </a:rPr>
              <a:t>レイヤー・顔の向きガイドで、言葉にしづらい直しも的確に。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00" b="0">
                <a:solidFill>
                  <a:srgbClr val="F2F3F7"/>
                </a:solidFill>
                <a:latin typeface="Meiryo"/>
                <a:ea typeface="Meiryo"/>
              </a:rPr>
              <a:t>カットごとの進み具合が、ひと目でわかります。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00" b="0">
                <a:solidFill>
                  <a:srgbClr val="F2F3F7"/>
                </a:solidFill>
                <a:latin typeface="Meiryo"/>
                <a:ea typeface="Meiryo"/>
              </a:rPr>
              <a:t>作品ごとにフォルダへ保存してチームで共有。ブラウザだけで動作・インストール不要。</a:t>
            </a:r>
          </a:p>
        </p:txBody>
      </p:sp>
      <p:pic>
        <p:nvPicPr>
          <p:cNvPr id="6" name="Picture 5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2675062"/>
            <a:ext cx="6583680" cy="2605155"/>
          </a:xfrm>
          <a:prstGeom prst="rect">
            <a:avLst/>
          </a:prstGeom>
          <a:ln w="12700">
            <a:solidFill>
              <a:srgbClr val="2A2C34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9AAA"/>
                </a:solidFill>
                <a:latin typeface="Meiryo"/>
                <a:ea typeface="Meiryo"/>
              </a:rPr>
              <a:t>LayCAT  /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5AF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AFFA0"/>
                </a:solidFill>
                <a:latin typeface="Meiryo"/>
                <a:ea typeface="Meiryo"/>
              </a:rPr>
              <a:t>TASK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3F7"/>
                </a:solidFill>
                <a:latin typeface="Meiryo"/>
                <a:ea typeface="Meiryo"/>
              </a:rPr>
              <a:t>タスクページ：カットごとの作業画面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566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1つのカットの工程を開く、作業の中心画面です。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「＋動画」でアップ。上げるたびに版（v1・v2…）が残ります。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動画ごとに、コメントや OK・リテイクの判定をやり取り。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ステータスや担当（作業・チェック）もここで設定します。</a:t>
            </a:r>
          </a:p>
        </p:txBody>
      </p:sp>
      <p:pic>
        <p:nvPicPr>
          <p:cNvPr id="6" name="Picture 5" descr="pre_t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262" y="1600200"/>
            <a:ext cx="6921795" cy="4800600"/>
          </a:xfrm>
          <a:prstGeom prst="rect">
            <a:avLst/>
          </a:prstGeom>
          <a:ln w="12700">
            <a:solidFill>
              <a:srgbClr val="2A2C34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9AAA"/>
                </a:solidFill>
                <a:latin typeface="Meiryo"/>
                <a:ea typeface="Meiryo"/>
              </a:rPr>
              <a:t>LayCAT  /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5A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A9BFF"/>
                </a:solidFill>
                <a:latin typeface="Meiryo"/>
                <a:ea typeface="Meiryo"/>
              </a:rPr>
              <a:t>STRENGTH 01 ／ ANNOTATION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3F7"/>
                </a:solidFill>
                <a:latin typeface="Meiryo"/>
                <a:ea typeface="Meiryo"/>
              </a:rPr>
              <a:t>アノテーション：レイヤー機能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566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動画のコマに、直接 絵で指示を描けます。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指示はレイヤーで分けられます（例：演出／作画／修正）。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レイヤーごとに、表示・非表示や削除ができます。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ブラシ・消しゴム・トレーシングペーパーなどを用意。</a:t>
            </a:r>
          </a:p>
        </p:txBody>
      </p:sp>
      <p:pic>
        <p:nvPicPr>
          <p:cNvPr id="6" name="Picture 5" descr="pre_review_an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262" y="1600200"/>
            <a:ext cx="6921795" cy="4800600"/>
          </a:xfrm>
          <a:prstGeom prst="rect">
            <a:avLst/>
          </a:prstGeom>
          <a:ln w="12700">
            <a:solidFill>
              <a:srgbClr val="2A2C34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9AAA"/>
                </a:solidFill>
                <a:latin typeface="Meiryo"/>
                <a:ea typeface="Meiryo"/>
              </a:rPr>
              <a:t>LayCAT  /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A5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A56BF0"/>
                </a:solidFill>
                <a:latin typeface="Meiryo"/>
                <a:ea typeface="Meiryo"/>
              </a:rPr>
              <a:t>STRENGTH 02 ／ ANNOTATION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3F7"/>
                </a:solidFill>
                <a:latin typeface="Meiryo"/>
                <a:ea typeface="Meiryo"/>
              </a:rPr>
              <a:t>動画への埋め込み ＆ 顔の向きガイド</a:t>
            </a:r>
          </a:p>
        </p:txBody>
      </p:sp>
      <p:pic>
        <p:nvPicPr>
          <p:cNvPr id="5" name="Picture 4" descr="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06281"/>
            <a:ext cx="6766560" cy="4342717"/>
          </a:xfrm>
          <a:prstGeom prst="rect">
            <a:avLst/>
          </a:prstGeom>
          <a:ln w="12700">
            <a:solidFill>
              <a:srgbClr val="2A2C34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772400" y="1828800"/>
            <a:ext cx="39319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描いた指示はそのコマに保存され、再生すると自動で出ます。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コメント欄にも、縮小画像で残ります。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「顔の向きガイド」で、顔の向きを立体的に示せます。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ドラッグで、上下・左右・傾きを指定できます。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9AAA"/>
                </a:solidFill>
                <a:latin typeface="Meiryo"/>
                <a:ea typeface="Meiryo"/>
              </a:rPr>
              <a:t>LayCAT  /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5A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A9BFF"/>
                </a:solidFill>
                <a:latin typeface="Meiryo"/>
                <a:ea typeface="Meiryo"/>
              </a:rPr>
              <a:t>STRENGTH 03 ／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3F7"/>
                </a:solidFill>
                <a:latin typeface="Meiryo"/>
                <a:ea typeface="Meiryo"/>
              </a:rPr>
              <a:t>進捗管理：複数グラフの同時表示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566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エピソードごとの円グラフを、横に並べて表示します。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「工程」と「ステータス」の2種類を切り替えられます。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担当者でしぼり込めます。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作品全体の進み具合が、ひと目でわかります。</a:t>
            </a:r>
          </a:p>
        </p:txBody>
      </p:sp>
      <p:pic>
        <p:nvPicPr>
          <p:cNvPr id="6" name="Picture 5" descr="pr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903" y="1600200"/>
            <a:ext cx="5372512" cy="4800600"/>
          </a:xfrm>
          <a:prstGeom prst="rect">
            <a:avLst/>
          </a:prstGeom>
          <a:ln w="12700">
            <a:solidFill>
              <a:srgbClr val="2A2C34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9AAA"/>
                </a:solidFill>
                <a:latin typeface="Meiryo"/>
                <a:ea typeface="Meiryo"/>
              </a:rPr>
              <a:t>LayCAT  /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5A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A9BFF"/>
                </a:solidFill>
                <a:latin typeface="Meiryo"/>
                <a:ea typeface="Meiryo"/>
              </a:rPr>
              <a:t>STRENGTH 03 ／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3F7"/>
                </a:solidFill>
                <a:latin typeface="Meiryo"/>
                <a:ea typeface="Meiryo"/>
              </a:rPr>
              <a:t>ステータス別でも同時に比較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566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同じ画面で「ステータスグラフ」に切り替えられます。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チェック待ち・OK・リテイク・NG の割合を比較できます。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リテイクが多いエピソードなど、つまずきを見つけやすくなります。</a:t>
            </a:r>
          </a:p>
        </p:txBody>
      </p:sp>
      <p:pic>
        <p:nvPicPr>
          <p:cNvPr id="6" name="Picture 5" descr="prog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903" y="1600200"/>
            <a:ext cx="5372512" cy="4800600"/>
          </a:xfrm>
          <a:prstGeom prst="rect">
            <a:avLst/>
          </a:prstGeom>
          <a:ln w="12700">
            <a:solidFill>
              <a:srgbClr val="2A2C34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9AAA"/>
                </a:solidFill>
                <a:latin typeface="Meiryo"/>
                <a:ea typeface="Meiryo"/>
              </a:rPr>
              <a:t>LayCAT  /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5A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A9BFF"/>
                </a:solidFill>
                <a:latin typeface="Meiryo"/>
                <a:ea typeface="Meiryo"/>
              </a:rPr>
              <a:t>STRENGTH 04 ／ REVIEW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3F7"/>
                </a:solidFill>
                <a:latin typeface="Meiryo"/>
                <a:ea typeface="Meiryo"/>
              </a:rPr>
              <a:t>チェック待ち：チェック担当者一覧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566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チェック担当者ごとに、タブで分かれます。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自分が見る番のカットだけを表示できます。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残り件数がバッジでわかり、見落としを防げます。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一覧のまま、ステータスを変えられます。</a:t>
            </a:r>
          </a:p>
        </p:txBody>
      </p:sp>
      <p:pic>
        <p:nvPicPr>
          <p:cNvPr id="6" name="Picture 5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262" y="1600200"/>
            <a:ext cx="6921795" cy="4800600"/>
          </a:xfrm>
          <a:prstGeom prst="rect">
            <a:avLst/>
          </a:prstGeom>
          <a:ln w="12700">
            <a:solidFill>
              <a:srgbClr val="2A2C34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9AAA"/>
                </a:solidFill>
                <a:latin typeface="Meiryo"/>
                <a:ea typeface="Meiryo"/>
              </a:rPr>
              <a:t>LayCAT  /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A5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A56BF0"/>
                </a:solidFill>
                <a:latin typeface="Meiryo"/>
                <a:ea typeface="Meiryo"/>
              </a:rPr>
              <a:t>STRENGTH 05 ／ REEL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3F7"/>
                </a:solidFill>
                <a:latin typeface="Meiryo"/>
                <a:ea typeface="Meiryo"/>
              </a:rPr>
              <a:t>REEL：カットをつなげて連続再生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566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複数のカットをつなげて、連続再生できます。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並べ替えて、通しのテンポを確認できます。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REELで書いたコメント・アノテーションは、各カットのタスクページにそのまま反映されます。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5A9BFF"/>
                </a:solidFill>
                <a:latin typeface="Meiryo"/>
                <a:ea typeface="Meiryo"/>
              </a:rPr>
              <a:t>●  </a:t>
            </a:r>
            <a:r>
              <a:rPr sz="1450" b="0">
                <a:solidFill>
                  <a:srgbClr val="F2F3F7"/>
                </a:solidFill>
                <a:latin typeface="Meiryo"/>
                <a:ea typeface="Meiryo"/>
              </a:rPr>
              <a:t>つながり確認や試写に、そのまま使えます。</a:t>
            </a:r>
          </a:p>
        </p:txBody>
      </p:sp>
      <p:pic>
        <p:nvPicPr>
          <p:cNvPr id="6" name="Picture 5" descr="pre_re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0029" y="1600200"/>
            <a:ext cx="7016261" cy="4800600"/>
          </a:xfrm>
          <a:prstGeom prst="rect">
            <a:avLst/>
          </a:prstGeom>
          <a:ln w="12700">
            <a:solidFill>
              <a:srgbClr val="2A2C34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9AAA"/>
                </a:solidFill>
                <a:latin typeface="Meiryo"/>
                <a:ea typeface="Meiryo"/>
              </a:rPr>
              <a:t>LayCAT  /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28016" cy="566928"/>
          </a:xfrm>
          <a:prstGeom prst="rect">
            <a:avLst/>
          </a:prstGeom>
          <a:solidFill>
            <a:srgbClr val="5A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A9BFF"/>
                </a:solidFill>
                <a:latin typeface="Meiryo"/>
                <a:ea typeface="Meiryo"/>
              </a:rPr>
              <a:t>OTHER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3F7"/>
                </a:solidFill>
                <a:latin typeface="Meiryo"/>
                <a:ea typeface="Meiryo"/>
              </a:rPr>
              <a:t>そのほかの主要画面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3611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A9BFF"/>
                </a:solidFill>
                <a:latin typeface="Meiryo"/>
                <a:ea typeface="Meiryo"/>
              </a:rPr>
              <a:t>タイムライン（更新履歴）</a:t>
            </a:r>
          </a:p>
        </p:txBody>
      </p:sp>
      <p:pic>
        <p:nvPicPr>
          <p:cNvPr id="6" name="Picture 5" descr="pre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450813"/>
            <a:ext cx="3611880" cy="2505013"/>
          </a:xfrm>
          <a:prstGeom prst="rect">
            <a:avLst/>
          </a:prstGeom>
          <a:ln w="12700">
            <a:solidFill>
              <a:srgbClr val="2A2C34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462272" y="1737360"/>
            <a:ext cx="3611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A9BFF"/>
                </a:solidFill>
                <a:latin typeface="Meiryo"/>
                <a:ea typeface="Meiryo"/>
              </a:rPr>
              <a:t>ショット一覧</a:t>
            </a:r>
          </a:p>
        </p:txBody>
      </p:sp>
      <p:pic>
        <p:nvPicPr>
          <p:cNvPr id="8" name="Picture 7" descr="sh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2450813"/>
            <a:ext cx="3611880" cy="2505013"/>
          </a:xfrm>
          <a:prstGeom prst="rect">
            <a:avLst/>
          </a:prstGeom>
          <a:ln w="12700">
            <a:solidFill>
              <a:srgbClr val="2A2C34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238744" y="1737360"/>
            <a:ext cx="3611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A9BFF"/>
                </a:solidFill>
                <a:latin typeface="Meiryo"/>
                <a:ea typeface="Meiryo"/>
              </a:rPr>
              <a:t>サブミット（まとめて提出）</a:t>
            </a:r>
          </a:p>
        </p:txBody>
      </p:sp>
      <p:pic>
        <p:nvPicPr>
          <p:cNvPr id="10" name="Picture 9" descr="subm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8744" y="3010072"/>
            <a:ext cx="3611880" cy="1386495"/>
          </a:xfrm>
          <a:prstGeom prst="rect">
            <a:avLst/>
          </a:prstGeom>
          <a:ln w="12700">
            <a:solidFill>
              <a:srgbClr val="2A2C34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85800" y="544068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9AAA"/>
                </a:solidFill>
                <a:latin typeface="Meiryo"/>
                <a:ea typeface="Meiryo"/>
              </a:rPr>
              <a:t>更新はタイムラインに集まり、ショット一覧で最新版を見渡せます。提出は複数カットをまとめてサブミットへ。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9AAA"/>
                </a:solidFill>
                <a:latin typeface="Meiryo"/>
                <a:ea typeface="Meiryo"/>
              </a:rPr>
              <a:t>LayCAT  /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5A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91440" cy="6858000"/>
          </a:xfrm>
          <a:prstGeom prst="rect">
            <a:avLst/>
          </a:prstGeom>
          <a:solidFill>
            <a:srgbClr val="A5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3F7"/>
                </a:solidFill>
                <a:latin typeface="Meiryo"/>
                <a:ea typeface="Meiryo"/>
              </a:rPr>
              <a:t>まとめ：導入のメリット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4892040" cy="1920240"/>
          </a:xfrm>
          <a:prstGeom prst="roundRect">
            <a:avLst/>
          </a:prstGeom>
          <a:solidFill>
            <a:srgbClr val="16171C"/>
          </a:solidFill>
          <a:ln w="12700">
            <a:solidFill>
              <a:srgbClr val="2A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920240"/>
            <a:ext cx="91440" cy="1920240"/>
          </a:xfrm>
          <a:prstGeom prst="rect">
            <a:avLst/>
          </a:prstGeom>
          <a:solidFill>
            <a:srgbClr val="5A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176272"/>
            <a:ext cx="4343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2F3F7"/>
                </a:solidFill>
                <a:latin typeface="Meiryo"/>
                <a:ea typeface="Meiryo"/>
              </a:rPr>
              <a:t>そのまま指示できる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697480"/>
            <a:ext cx="4343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A"/>
                </a:solidFill>
                <a:latin typeface="Meiryo"/>
                <a:ea typeface="Meiryo"/>
              </a:rPr>
              <a:t>動画に直接描き込み、レイヤーと顔の向きガイドで、直しが言葉なしで伝わります。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920240"/>
            <a:ext cx="4892040" cy="1920240"/>
          </a:xfrm>
          <a:prstGeom prst="roundRect">
            <a:avLst/>
          </a:prstGeom>
          <a:solidFill>
            <a:srgbClr val="16171C"/>
          </a:solidFill>
          <a:ln w="12700">
            <a:solidFill>
              <a:srgbClr val="2A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920240"/>
            <a:ext cx="91440" cy="1920240"/>
          </a:xfrm>
          <a:prstGeom prst="rect">
            <a:avLst/>
          </a:prstGeom>
          <a:solidFill>
            <a:srgbClr val="5AF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2176272"/>
            <a:ext cx="4343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2F3F7"/>
                </a:solidFill>
                <a:latin typeface="Meiryo"/>
                <a:ea typeface="Meiryo"/>
              </a:rPr>
              <a:t>進捗が見える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697480"/>
            <a:ext cx="4343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A"/>
                </a:solidFill>
                <a:latin typeface="Meiryo"/>
                <a:ea typeface="Meiryo"/>
              </a:rPr>
              <a:t>グラフの同時表示と、担当者ごとのチェック待ちで、見落としを防げます。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160520"/>
            <a:ext cx="4892040" cy="1920240"/>
          </a:xfrm>
          <a:prstGeom prst="roundRect">
            <a:avLst/>
          </a:prstGeom>
          <a:solidFill>
            <a:srgbClr val="16171C"/>
          </a:solidFill>
          <a:ln w="12700">
            <a:solidFill>
              <a:srgbClr val="2A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160520"/>
            <a:ext cx="91440" cy="1920240"/>
          </a:xfrm>
          <a:prstGeom prst="rect">
            <a:avLst/>
          </a:prstGeom>
          <a:solidFill>
            <a:srgbClr val="FFB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416552"/>
            <a:ext cx="4343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2F3F7"/>
                </a:solidFill>
                <a:latin typeface="Meiryo"/>
                <a:ea typeface="Meiryo"/>
              </a:rPr>
              <a:t>チームで回る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937759"/>
            <a:ext cx="4343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A"/>
                </a:solidFill>
                <a:latin typeface="Meiryo"/>
                <a:ea typeface="Meiryo"/>
              </a:rPr>
              <a:t>フォルダ共有で1つのデータを共同運用。REELやサブミットでまとめて確認・提出。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160520"/>
            <a:ext cx="4892040" cy="1920240"/>
          </a:xfrm>
          <a:prstGeom prst="roundRect">
            <a:avLst/>
          </a:prstGeom>
          <a:solidFill>
            <a:srgbClr val="16171C"/>
          </a:solidFill>
          <a:ln w="12700">
            <a:solidFill>
              <a:srgbClr val="2A2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4160520"/>
            <a:ext cx="91440" cy="1920240"/>
          </a:xfrm>
          <a:prstGeom prst="rect">
            <a:avLst/>
          </a:prstGeom>
          <a:solidFill>
            <a:srgbClr val="A5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4416552"/>
            <a:ext cx="4343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2F3F7"/>
                </a:solidFill>
                <a:latin typeface="Meiryo"/>
                <a:ea typeface="Meiryo"/>
              </a:rPr>
              <a:t>導入がかんたん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937759"/>
            <a:ext cx="4343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A"/>
                </a:solidFill>
                <a:latin typeface="Meiryo"/>
                <a:ea typeface="Meiryo"/>
              </a:rPr>
              <a:t>ブラウザだけで動作・インストール不要。単一HTMLで完結し、パスワード保護にも対応。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355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A"/>
                </a:solidFill>
                <a:latin typeface="Meiryo"/>
                <a:ea typeface="Meiryo"/>
              </a:rPr>
              <a:t>公開URL：https://ogshaw03.github.io/laycat/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5A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91440" cy="6858000"/>
          </a:xfrm>
          <a:prstGeom prst="rect">
            <a:avLst/>
          </a:prstGeom>
          <a:solidFill>
            <a:srgbClr val="A5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aycat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327" y="2148840"/>
            <a:ext cx="6035040" cy="15691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4037990"/>
            <a:ext cx="10360152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2F3F7"/>
                </a:solidFill>
                <a:latin typeface="Meiryo"/>
              </a:rPr>
              <a:t>ご清聴ありがとうございました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60950"/>
            <a:ext cx="103601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9A9AAA"/>
                </a:solidFill>
                <a:latin typeface="Meiryo"/>
              </a:rPr>
              <a:t>映像制作のための レビュー ＆ 進行管理ツール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63640"/>
            <a:ext cx="1036015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5A9BFF"/>
                </a:solidFill>
                <a:latin typeface="Meiryo"/>
              </a:rPr>
              <a:t>https://ogshaw03.github.io/laycat/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